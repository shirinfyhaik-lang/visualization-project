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20"/>
  </p:notesMasterIdLst>
  <p:handoutMasterIdLst>
    <p:handoutMasterId r:id="rId21"/>
  </p:handoutMasterIdLst>
  <p:sldIdLst>
    <p:sldId id="261" r:id="rId5"/>
    <p:sldId id="280" r:id="rId6"/>
    <p:sldId id="273" r:id="rId7"/>
    <p:sldId id="306" r:id="rId8"/>
    <p:sldId id="286" r:id="rId9"/>
    <p:sldId id="308" r:id="rId10"/>
    <p:sldId id="313" r:id="rId11"/>
    <p:sldId id="314" r:id="rId12"/>
    <p:sldId id="315" r:id="rId13"/>
    <p:sldId id="316" r:id="rId14"/>
    <p:sldId id="317" r:id="rId15"/>
    <p:sldId id="318" r:id="rId16"/>
    <p:sldId id="319" r:id="rId17"/>
    <p:sldId id="320" r:id="rId18"/>
    <p:sldId id="32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4" autoAdjust="0"/>
  </p:normalViewPr>
  <p:slideViewPr>
    <p:cSldViewPr>
      <p:cViewPr varScale="1">
        <p:scale>
          <a:sx n="89" d="100"/>
          <a:sy n="89" d="100"/>
        </p:scale>
        <p:origin x="466" y="72"/>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F33-483B-8984-67AD3F15958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5F33-483B-8984-67AD3F15958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5F33-483B-8984-67AD3F15958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2-5F33-483B-8984-67AD3F15958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5F33-483B-8984-67AD3F15958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F33-483B-8984-67AD3F15958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5F33-483B-8984-67AD3F15958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5F33-483B-8984-67AD3F15958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2-5F33-483B-8984-67AD3F15958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5F33-483B-8984-67AD3F15958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F33-483B-8984-67AD3F15958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5F33-483B-8984-67AD3F15958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5F33-483B-8984-67AD3F15958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2-5F33-483B-8984-67AD3F15958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5F33-483B-8984-67AD3F15958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4/17/2026</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4/17/2026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1935294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2318251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1273297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6206-2FD7-15C9-8F07-99AE81824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82BA2-B090-7792-67C2-2D9E5E242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F8BAE-39A0-684F-0E37-4B607F07AB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A5C82-EAE0-7F5E-4057-B95FE067E36D}"/>
              </a:ext>
            </a:extLst>
          </p:cNvPr>
          <p:cNvSpPr>
            <a:spLocks noGrp="1"/>
          </p:cNvSpPr>
          <p:nvPr>
            <p:ph type="sldNum" sz="quarter" idx="5"/>
          </p:nvPr>
        </p:nvSpPr>
        <p:spPr/>
        <p:txBody>
          <a:bodyPr/>
          <a:lstStyle/>
          <a:p>
            <a:fld id="{DAE5FABD-26C8-4F74-B1E3-45BC91BC9D7B}" type="slidenum">
              <a:rPr lang="en-US" noProof="0" smtClean="0"/>
              <a:pPr/>
              <a:t>8</a:t>
            </a:fld>
            <a:endParaRPr lang="en-US" noProof="0" dirty="0"/>
          </a:p>
        </p:txBody>
      </p:sp>
    </p:spTree>
    <p:extLst>
      <p:ext uri="{BB962C8B-B14F-4D97-AF65-F5344CB8AC3E}">
        <p14:creationId xmlns:p14="http://schemas.microsoft.com/office/powerpoint/2010/main" val="1666931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D206-9530-3ADC-0F06-18DAE8DE2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173AA-592C-E5CF-7581-4EE93C008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1C3FB-21F9-6F36-0D0F-48955F4F48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8485E-DA20-7061-270A-C2CB7F6896C8}"/>
              </a:ext>
            </a:extLst>
          </p:cNvPr>
          <p:cNvSpPr>
            <a:spLocks noGrp="1"/>
          </p:cNvSpPr>
          <p:nvPr>
            <p:ph type="sldNum" sz="quarter" idx="5"/>
          </p:nvPr>
        </p:nvSpPr>
        <p:spPr/>
        <p:txBody>
          <a:bodyPr/>
          <a:lstStyle/>
          <a:p>
            <a:fld id="{DAE5FABD-26C8-4F74-B1E3-45BC91BC9D7B}" type="slidenum">
              <a:rPr lang="en-US" noProof="0" smtClean="0"/>
              <a:pPr/>
              <a:t>9</a:t>
            </a:fld>
            <a:endParaRPr lang="en-US" noProof="0" dirty="0"/>
          </a:p>
        </p:txBody>
      </p:sp>
    </p:spTree>
    <p:extLst>
      <p:ext uri="{BB962C8B-B14F-4D97-AF65-F5344CB8AC3E}">
        <p14:creationId xmlns:p14="http://schemas.microsoft.com/office/powerpoint/2010/main" val="4077383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3A257-4142-B899-E9A7-B31160B1C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A80FD-A534-E64A-9B42-ACA6CC088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2677F-2347-338B-CD03-CE15A1E163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1C199E-6820-71E2-A430-79D939FBDA73}"/>
              </a:ext>
            </a:extLst>
          </p:cNvPr>
          <p:cNvSpPr>
            <a:spLocks noGrp="1"/>
          </p:cNvSpPr>
          <p:nvPr>
            <p:ph type="sldNum" sz="quarter" idx="5"/>
          </p:nvPr>
        </p:nvSpPr>
        <p:spPr/>
        <p:txBody>
          <a:bodyPr/>
          <a:lstStyle/>
          <a:p>
            <a:fld id="{DAE5FABD-26C8-4F74-B1E3-45BC91BC9D7B}" type="slidenum">
              <a:rPr lang="en-US" noProof="0" smtClean="0"/>
              <a:pPr/>
              <a:t>10</a:t>
            </a:fld>
            <a:endParaRPr lang="en-US" noProof="0" dirty="0"/>
          </a:p>
        </p:txBody>
      </p:sp>
    </p:spTree>
    <p:extLst>
      <p:ext uri="{BB962C8B-B14F-4D97-AF65-F5344CB8AC3E}">
        <p14:creationId xmlns:p14="http://schemas.microsoft.com/office/powerpoint/2010/main" val="3897740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1A774-9671-DE43-59E2-DFEA25277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16DE2-3F63-EBFD-649F-815D33DD5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A1B6E-B00B-1159-7054-97B923F7B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D64D58-0372-B9D2-15ED-5E1182B376EE}"/>
              </a:ext>
            </a:extLst>
          </p:cNvPr>
          <p:cNvSpPr>
            <a:spLocks noGrp="1"/>
          </p:cNvSpPr>
          <p:nvPr>
            <p:ph type="sldNum" sz="quarter" idx="5"/>
          </p:nvPr>
        </p:nvSpPr>
        <p:spPr/>
        <p:txBody>
          <a:bodyPr/>
          <a:lstStyle/>
          <a:p>
            <a:fld id="{DAE5FABD-26C8-4F74-B1E3-45BC91BC9D7B}" type="slidenum">
              <a:rPr lang="en-US" noProof="0" smtClean="0"/>
              <a:pPr/>
              <a:t>11</a:t>
            </a:fld>
            <a:endParaRPr lang="en-US" noProof="0" dirty="0"/>
          </a:p>
        </p:txBody>
      </p:sp>
    </p:spTree>
    <p:extLst>
      <p:ext uri="{BB962C8B-B14F-4D97-AF65-F5344CB8AC3E}">
        <p14:creationId xmlns:p14="http://schemas.microsoft.com/office/powerpoint/2010/main" val="4157214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140F8-30CD-F834-320F-53A2A3A1D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4C168-5A0C-CD6F-03F5-CE8AE0C97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10F4C-5B88-FF9C-1AB6-9DD6453DDB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CD5691-A276-0DDA-C8D3-573B8A79FE7F}"/>
              </a:ext>
            </a:extLst>
          </p:cNvPr>
          <p:cNvSpPr>
            <a:spLocks noGrp="1"/>
          </p:cNvSpPr>
          <p:nvPr>
            <p:ph type="sldNum" sz="quarter" idx="5"/>
          </p:nvPr>
        </p:nvSpPr>
        <p:spPr/>
        <p:txBody>
          <a:bodyPr/>
          <a:lstStyle/>
          <a:p>
            <a:fld id="{DAE5FABD-26C8-4F74-B1E3-45BC91BC9D7B}" type="slidenum">
              <a:rPr lang="en-US" noProof="0" smtClean="0"/>
              <a:pPr/>
              <a:t>12</a:t>
            </a:fld>
            <a:endParaRPr lang="en-US" noProof="0" dirty="0"/>
          </a:p>
        </p:txBody>
      </p:sp>
    </p:spTree>
    <p:extLst>
      <p:ext uri="{BB962C8B-B14F-4D97-AF65-F5344CB8AC3E}">
        <p14:creationId xmlns:p14="http://schemas.microsoft.com/office/powerpoint/2010/main" val="2133637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389C2-A00B-553C-79C4-E2835D8EC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E27931-584C-2F85-37B9-F1D357D8B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5DC22-E9E5-6543-18D5-AC45E752D4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832A8A-E0ED-DB8F-2083-5E23E01005C2}"/>
              </a:ext>
            </a:extLst>
          </p:cNvPr>
          <p:cNvSpPr>
            <a:spLocks noGrp="1"/>
          </p:cNvSpPr>
          <p:nvPr>
            <p:ph type="sldNum" sz="quarter" idx="5"/>
          </p:nvPr>
        </p:nvSpPr>
        <p:spPr/>
        <p:txBody>
          <a:bodyPr/>
          <a:lstStyle/>
          <a:p>
            <a:fld id="{DAE5FABD-26C8-4F74-B1E3-45BC91BC9D7B}" type="slidenum">
              <a:rPr lang="en-US" noProof="0" smtClean="0"/>
              <a:pPr/>
              <a:t>13</a:t>
            </a:fld>
            <a:endParaRPr lang="en-US" noProof="0" dirty="0"/>
          </a:p>
        </p:txBody>
      </p:sp>
    </p:spTree>
    <p:extLst>
      <p:ext uri="{BB962C8B-B14F-4D97-AF65-F5344CB8AC3E}">
        <p14:creationId xmlns:p14="http://schemas.microsoft.com/office/powerpoint/2010/main" val="503318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0821-3EEA-0FD7-9461-7AB3F3465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B1C12-E9B7-B00C-181E-6AFDB7C7E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AE2E0-B903-BBA3-8962-E14E228FC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11C064-8F4A-4E80-47E0-3DD8F0A8F1E4}"/>
              </a:ext>
            </a:extLst>
          </p:cNvPr>
          <p:cNvSpPr>
            <a:spLocks noGrp="1"/>
          </p:cNvSpPr>
          <p:nvPr>
            <p:ph type="sldNum" sz="quarter" idx="5"/>
          </p:nvPr>
        </p:nvSpPr>
        <p:spPr/>
        <p:txBody>
          <a:bodyPr/>
          <a:lstStyle/>
          <a:p>
            <a:fld id="{DAE5FABD-26C8-4F74-B1E3-45BC91BC9D7B}" type="slidenum">
              <a:rPr lang="en-US" noProof="0" smtClean="0"/>
              <a:pPr/>
              <a:t>14</a:t>
            </a:fld>
            <a:endParaRPr lang="en-US" noProof="0" dirty="0"/>
          </a:p>
        </p:txBody>
      </p:sp>
    </p:spTree>
    <p:extLst>
      <p:ext uri="{BB962C8B-B14F-4D97-AF65-F5344CB8AC3E}">
        <p14:creationId xmlns:p14="http://schemas.microsoft.com/office/powerpoint/2010/main" val="407448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p:txBody>
          <a:bodyPr/>
          <a:lstStyle/>
          <a:p>
            <a:r>
              <a:rPr lang="en-US" dirty="0"/>
              <a:t>DATA VISUALIZATION </a:t>
            </a:r>
            <a:br>
              <a:rPr lang="en-US" dirty="0"/>
            </a:b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p:txBody>
          <a:bodyPr/>
          <a:lstStyle/>
          <a:p>
            <a:r>
              <a:rPr lang="en-US" dirty="0"/>
              <a:t>Shirin Shahana</a:t>
            </a:r>
          </a:p>
        </p:txBody>
      </p:sp>
    </p:spTree>
    <p:extLst>
      <p:ext uri="{BB962C8B-B14F-4D97-AF65-F5344CB8AC3E}">
        <p14:creationId xmlns:p14="http://schemas.microsoft.com/office/powerpoint/2010/main" val="313522896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F890B92-D44D-461B-A5E6-D4F348791F20}"/>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0" y="112976"/>
            <a:ext cx="12191999" cy="3278423"/>
          </a:xfrm>
        </p:spPr>
      </p:pic>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a:xfrm>
            <a:off x="853856" y="2582035"/>
            <a:ext cx="5013960" cy="1064978"/>
          </a:xfrm>
        </p:spPr>
        <p:txBody>
          <a:bodyPr>
            <a:normAutofit/>
          </a:bodyPr>
          <a:lstStyle/>
          <a:p>
            <a:r>
              <a:rPr lang="en-US" sz="5400" b="1" dirty="0"/>
              <a:t>Outlines</a:t>
            </a:r>
          </a:p>
        </p:txBody>
      </p:sp>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a:xfrm>
            <a:off x="931068" y="3470915"/>
            <a:ext cx="5545931" cy="2780820"/>
          </a:xfrm>
        </p:spPr>
        <p:txBody>
          <a:bodyPr/>
          <a:lstStyle/>
          <a:p>
            <a:r>
              <a:rPr lang="en-US" dirty="0">
                <a:solidFill>
                  <a:schemeClr val="bg2">
                    <a:lumMod val="10000"/>
                    <a:alpha val="0"/>
                  </a:schemeClr>
                </a:solidFill>
              </a:rPr>
              <a:t>INTROCCTION</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9"/>
          </p:nvPr>
        </p:nvSpPr>
        <p:spPr/>
        <p:txBody>
          <a:bodyPr/>
          <a:lstStyle/>
          <a:p>
            <a:endParaRPr lang="en-US" dirty="0"/>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a:extLst>
              <a:ext uri="{96DAC541-7B7A-43D3-8B79-37D633B846F1}">
                <asvg:svgBlip xmlns:asvg="http://schemas.microsoft.com/office/drawing/2016/SVG/main" r:embed="rId4"/>
              </a:ext>
            </a:extLst>
          </a:blip>
          <a:srcRect l="853" r="853"/>
          <a:stretch>
            <a:fillRect/>
          </a:stretch>
        </p:blipFill>
        <p:spPr/>
      </p:pic>
      <p:sp>
        <p:nvSpPr>
          <p:cNvPr id="2" name="Slide Number Placeholder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32" name="Text Placeholder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40" name="Freeform: Shape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592F59C-F737-E47E-1DDF-1401CE4AE899}"/>
              </a:ext>
            </a:extLst>
          </p:cNvPr>
          <p:cNvSpPr txBox="1"/>
          <p:nvPr/>
        </p:nvSpPr>
        <p:spPr>
          <a:xfrm>
            <a:off x="1474846" y="3668578"/>
            <a:ext cx="439297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TABLEAU DASHBOARD</a:t>
            </a:r>
          </a:p>
          <a:p>
            <a:pPr marL="285750" indent="-285750">
              <a:buFont typeface="Arial" panose="020B0604020202020204" pitchFamily="34" charset="0"/>
              <a:buChar char="•"/>
            </a:pPr>
            <a:r>
              <a:rPr lang="en-US" sz="2400" dirty="0"/>
              <a:t>POWER BI DASH BOARD</a:t>
            </a:r>
          </a:p>
          <a:p>
            <a:pPr marL="285750" indent="-285750">
              <a:buFont typeface="Arial" panose="020B0604020202020204" pitchFamily="34" charset="0"/>
              <a:buChar char="•"/>
            </a:pPr>
            <a:r>
              <a:rPr lang="en-US" sz="2400" dirty="0"/>
              <a:t>EXCEL DASHBOARD</a:t>
            </a:r>
            <a:endParaRPr lang="en-IN" sz="2400" dirty="0"/>
          </a:p>
        </p:txBody>
      </p:sp>
    </p:spTree>
    <p:extLst>
      <p:ext uri="{BB962C8B-B14F-4D97-AF65-F5344CB8AC3E}">
        <p14:creationId xmlns:p14="http://schemas.microsoft.com/office/powerpoint/2010/main" val="2956204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endParaRPr lang="en-US"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a:xfrm>
            <a:off x="-1" y="1676400"/>
            <a:ext cx="10837333" cy="590931"/>
          </a:xfrm>
        </p:spPr>
        <p:txBody>
          <a:bodyPr/>
          <a:lstStyle/>
          <a:p>
            <a:r>
              <a:rPr lang="en-US" sz="3600" b="1" dirty="0"/>
              <a:t>INTRODUCTION</a:t>
            </a:r>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3</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
        <p:nvSpPr>
          <p:cNvPr id="8" name="Rectangle 4">
            <a:extLst>
              <a:ext uri="{FF2B5EF4-FFF2-40B4-BE49-F238E27FC236}">
                <a16:creationId xmlns:a16="http://schemas.microsoft.com/office/drawing/2014/main" id="{03091521-278E-8B97-9DF5-F6A108A12508}"/>
              </a:ext>
            </a:extLst>
          </p:cNvPr>
          <p:cNvSpPr>
            <a:spLocks noGrp="1" noChangeArrowheads="1"/>
          </p:cNvSpPr>
          <p:nvPr>
            <p:ph sz="quarter" idx="13"/>
          </p:nvPr>
        </p:nvSpPr>
        <p:spPr bwMode="auto">
          <a:xfrm>
            <a:off x="548640" y="3220052"/>
            <a:ext cx="950976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Narrow" panose="020B0004020202020204" pitchFamily="34" charset="0"/>
              </a:rPr>
              <a:t>This project focuses on transforming raw data into meaningful insights using data visualization tools . Dashboards were created in Excel, Power BI, and Tableau to analyze key metrics, identify trends , and support data-driven decision-making. The project highlights the use of interactive charts, filters, and visual elements to present complex data in a clear and impactful way.</a:t>
            </a:r>
          </a:p>
          <a:p>
            <a:pPr marL="0" lvl="0" indent="0" eaLnBrk="0" fontAlgn="base" hangingPunct="0">
              <a:lnSpc>
                <a:spcPct val="100000"/>
              </a:lnSpc>
              <a:spcBef>
                <a:spcPct val="0"/>
              </a:spcBef>
              <a:spcAft>
                <a:spcPct val="0"/>
              </a:spcAft>
              <a:buClrTx/>
              <a:buSzTx/>
              <a:buNone/>
            </a:pPr>
            <a:r>
              <a:rPr lang="en-US" dirty="0">
                <a:latin typeface="Aptos Narrow" panose="020B0004020202020204" pitchFamily="34" charset="0"/>
              </a:rPr>
              <a:t>It demonstrates the importance of data storytelling in simplifying complex information. The dashboards are designed to be user-friendly and visually appealing for better understanding and analysis.</a:t>
            </a:r>
            <a:endParaRPr kumimoji="0" lang="en-US" altLang="en-US" b="0" i="0" u="none" strike="noStrike" cap="none" normalizeH="0" baseline="0" dirty="0">
              <a:ln>
                <a:noFill/>
              </a:ln>
              <a:solidFill>
                <a:schemeClr val="tx1"/>
              </a:solidFill>
              <a:effectLst/>
              <a:latin typeface="Aptos Narrow" panose="020B0004020202020204" pitchFamily="34" charset="0"/>
            </a:endParaRPr>
          </a:p>
        </p:txBody>
      </p:sp>
    </p:spTree>
    <p:extLst>
      <p:ext uri="{BB962C8B-B14F-4D97-AF65-F5344CB8AC3E}">
        <p14:creationId xmlns:p14="http://schemas.microsoft.com/office/powerpoint/2010/main" val="1074725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p:txBody>
          <a:bodyPr/>
          <a:lstStyle/>
          <a:p>
            <a:r>
              <a:rPr lang="en-US" dirty="0"/>
              <a:t>DATASET INSIGHTs</a:t>
            </a:r>
          </a:p>
        </p:txBody>
      </p:sp>
      <p:sp>
        <p:nvSpPr>
          <p:cNvPr id="44" name="Subtitle 43">
            <a:extLst>
              <a:ext uri="{FF2B5EF4-FFF2-40B4-BE49-F238E27FC236}">
                <a16:creationId xmlns:a16="http://schemas.microsoft.com/office/drawing/2014/main" id="{F522C824-2C48-4465-AABE-F46286D9ECD5}"/>
              </a:ext>
            </a:extLst>
          </p:cNvPr>
          <p:cNvSpPr>
            <a:spLocks noGrp="1"/>
          </p:cNvSpPr>
          <p:nvPr>
            <p:ph type="subTitle" idx="1"/>
          </p:nvPr>
        </p:nvSpPr>
        <p:spPr/>
        <p:txBody>
          <a:bodyPr>
            <a:noAutofit/>
          </a:bodyPr>
          <a:lstStyle/>
          <a:p>
            <a:pPr marL="342900" indent="-342900" algn="just">
              <a:buFont typeface="Arial" panose="020B0604020202020204" pitchFamily="34" charset="0"/>
              <a:buChar char="•"/>
            </a:pPr>
            <a:r>
              <a:rPr lang="en-IN" sz="2400" dirty="0">
                <a:latin typeface="+mj-lt"/>
              </a:rPr>
              <a:t>This dataset represents banking </a:t>
            </a:r>
            <a:r>
              <a:rPr lang="en-US" sz="2400" dirty="0">
                <a:latin typeface="+mj-lt"/>
              </a:rPr>
              <a:t>transactions and performance metrics across different customer type and regions</a:t>
            </a:r>
            <a:r>
              <a:rPr lang="en-IN" sz="2400" dirty="0">
                <a:latin typeface="+mj-lt"/>
              </a:rPr>
              <a:t>. The dataset includes various features like Customer Type</a:t>
            </a:r>
            <a:r>
              <a:rPr lang="en-US" sz="2400" dirty="0">
                <a:latin typeface="+mj-lt"/>
              </a:rPr>
              <a:t>, Region, Payment Channel, Gender , Product Transaction, Revenue, Profit, Date.</a:t>
            </a:r>
          </a:p>
          <a:p>
            <a:pPr marL="342900" indent="-342900" algn="just">
              <a:buFont typeface="Arial" panose="020B0604020202020204" pitchFamily="34" charset="0"/>
              <a:buChar char="•"/>
            </a:pPr>
            <a:endParaRPr lang="en-US" sz="2400" dirty="0">
              <a:latin typeface="+mj-lt"/>
            </a:endParaRPr>
          </a:p>
          <a:p>
            <a:pPr marL="342900" indent="-342900" algn="just">
              <a:buFont typeface="Arial" panose="020B0604020202020204" pitchFamily="34" charset="0"/>
              <a:buChar char="•"/>
            </a:pPr>
            <a:r>
              <a:rPr lang="en-US" sz="2400" dirty="0">
                <a:latin typeface="+mj-lt"/>
              </a:rPr>
              <a:t>It is used to analyze revenue , profit, customer behavior patterns.</a:t>
            </a:r>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320284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02B9606-F9BC-40CD-9467-6348ACE4102C}"/>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A682397A-D234-4487-8E63-23B79C769633}"/>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3" name="Title 12">
            <a:extLst>
              <a:ext uri="{FF2B5EF4-FFF2-40B4-BE49-F238E27FC236}">
                <a16:creationId xmlns:a16="http://schemas.microsoft.com/office/drawing/2014/main" id="{D7199992-58FE-4335-A811-6AFA96B5595D}"/>
              </a:ext>
            </a:extLst>
          </p:cNvPr>
          <p:cNvSpPr>
            <a:spLocks noGrp="1"/>
          </p:cNvSpPr>
          <p:nvPr>
            <p:ph type="title"/>
          </p:nvPr>
        </p:nvSpPr>
        <p:spPr>
          <a:xfrm>
            <a:off x="1085850" y="2514600"/>
            <a:ext cx="9963150" cy="1072702"/>
          </a:xfrm>
        </p:spPr>
        <p:txBody>
          <a:bodyPr>
            <a:normAutofit fontScale="90000"/>
          </a:bodyPr>
          <a:lstStyle/>
          <a:p>
            <a:r>
              <a:rPr lang="en-US" dirty="0"/>
              <a:t>Tableau dashboard</a:t>
            </a:r>
            <a:br>
              <a:rPr lang="en-US" dirty="0"/>
            </a:br>
            <a:endParaRPr lang="en-US" dirty="0"/>
          </a:p>
        </p:txBody>
      </p:sp>
      <p:sp>
        <p:nvSpPr>
          <p:cNvPr id="16" name="Text Placeholder 15">
            <a:extLst>
              <a:ext uri="{FF2B5EF4-FFF2-40B4-BE49-F238E27FC236}">
                <a16:creationId xmlns:a16="http://schemas.microsoft.com/office/drawing/2014/main" id="{CF8FCB52-DD55-48F6-9F4A-D2A0F6586E95}"/>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2" name="TextBox 1">
            <a:extLst>
              <a:ext uri="{FF2B5EF4-FFF2-40B4-BE49-F238E27FC236}">
                <a16:creationId xmlns:a16="http://schemas.microsoft.com/office/drawing/2014/main" id="{DB5F9246-5022-5817-8611-E61DAFF01E68}"/>
              </a:ext>
            </a:extLst>
          </p:cNvPr>
          <p:cNvSpPr txBox="1"/>
          <p:nvPr/>
        </p:nvSpPr>
        <p:spPr>
          <a:xfrm>
            <a:off x="1143000" y="3064083"/>
            <a:ext cx="3733800" cy="523220"/>
          </a:xfrm>
          <a:prstGeom prst="rect">
            <a:avLst/>
          </a:prstGeom>
          <a:noFill/>
        </p:spPr>
        <p:txBody>
          <a:bodyPr wrap="square" rtlCol="0">
            <a:spAutoFit/>
          </a:bodyPr>
          <a:lstStyle/>
          <a:p>
            <a:r>
              <a:rPr lang="en-US" sz="2800" dirty="0">
                <a:solidFill>
                  <a:srgbClr val="EEEEEE"/>
                </a:solidFill>
                <a:latin typeface="+mj-lt"/>
              </a:rPr>
              <a:t>BANK PERFORMANCE ANALYSIS</a:t>
            </a:r>
            <a:endParaRPr lang="en-IN" sz="2800" dirty="0">
              <a:solidFill>
                <a:srgbClr val="EEEEEE"/>
              </a:solidFill>
              <a:latin typeface="+mj-lt"/>
            </a:endParaRPr>
          </a:p>
        </p:txBody>
      </p:sp>
    </p:spTree>
    <p:extLst>
      <p:ext uri="{BB962C8B-B14F-4D97-AF65-F5344CB8AC3E}">
        <p14:creationId xmlns:p14="http://schemas.microsoft.com/office/powerpoint/2010/main" val="306905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24509E-BB74-42FE-A9A8-F01572CD040C}"/>
              </a:ext>
            </a:extLst>
          </p:cNvPr>
          <p:cNvSpPr>
            <a:spLocks noGrp="1"/>
          </p:cNvSpPr>
          <p:nvPr>
            <p:ph type="title"/>
          </p:nvPr>
        </p:nvSpPr>
        <p:spPr/>
        <p:txBody>
          <a:bodyPr/>
          <a:lstStyle/>
          <a:p>
            <a:r>
              <a:rPr lang="en-US" dirty="0"/>
              <a:t>CHARTS</a:t>
            </a:r>
          </a:p>
        </p:txBody>
      </p:sp>
      <p:sp>
        <p:nvSpPr>
          <p:cNvPr id="11" name="Slide Number Placeholder 10">
            <a:extLst>
              <a:ext uri="{FF2B5EF4-FFF2-40B4-BE49-F238E27FC236}">
                <a16:creationId xmlns:a16="http://schemas.microsoft.com/office/drawing/2014/main" id="{4F6BA4CE-8BD2-419E-A270-15A0EFE01D9F}"/>
              </a:ext>
            </a:extLst>
          </p:cNvPr>
          <p:cNvSpPr>
            <a:spLocks noGrp="1"/>
          </p:cNvSpPr>
          <p:nvPr>
            <p:ph type="sldNum" sz="quarter" idx="4"/>
          </p:nvPr>
        </p:nvSpPr>
        <p:spPr/>
        <p:txBody>
          <a:bodyPr/>
          <a:lstStyle/>
          <a:p>
            <a:fld id="{4FAB73BC-B049-4115-A692-8D63A059BFB8}" type="slidenum">
              <a:rPr lang="en-US" smtClean="0"/>
              <a:pPr/>
              <a:t>6</a:t>
            </a:fld>
            <a:endParaRPr lang="en-US" dirty="0"/>
          </a:p>
        </p:txBody>
      </p:sp>
      <p:sp>
        <p:nvSpPr>
          <p:cNvPr id="12" name="Text Placeholder 119">
            <a:extLst>
              <a:ext uri="{FF2B5EF4-FFF2-40B4-BE49-F238E27FC236}">
                <a16:creationId xmlns:a16="http://schemas.microsoft.com/office/drawing/2014/main" id="{C0F25050-A2F4-4F04-ACDB-1E69650344BA}"/>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AC223E36-CDF4-5CE5-2D3A-CC835617DAE0}"/>
              </a:ext>
            </a:extLst>
          </p:cNvPr>
          <p:cNvSpPr txBox="1"/>
          <p:nvPr/>
        </p:nvSpPr>
        <p:spPr>
          <a:xfrm>
            <a:off x="628788" y="1905000"/>
            <a:ext cx="9277212" cy="3970318"/>
          </a:xfrm>
          <a:prstGeom prst="rect">
            <a:avLst/>
          </a:prstGeom>
          <a:noFill/>
        </p:spPr>
        <p:txBody>
          <a:bodyPr wrap="square" rtlCol="0">
            <a:spAutoFit/>
          </a:bodyPr>
          <a:lstStyle/>
          <a:p>
            <a:pPr marL="342900" indent="-342900">
              <a:buAutoNum type="arabicPeriod"/>
            </a:pPr>
            <a:r>
              <a:rPr lang="en-US" b="1" dirty="0"/>
              <a:t>Dual-axis chart </a:t>
            </a:r>
            <a:r>
              <a:rPr lang="en-US" dirty="0"/>
              <a:t>uses bars to represent revenue and a line to track profit across the first four months of the year. It highlights that while revenue peaked in January, there was a significant dip in both metrics by April.</a:t>
            </a:r>
          </a:p>
          <a:p>
            <a:pPr marL="342900" indent="-342900">
              <a:buAutoNum type="arabicPeriod"/>
            </a:pPr>
            <a:r>
              <a:rPr lang="en-US" b="1" dirty="0"/>
              <a:t>Donut chart </a:t>
            </a:r>
            <a:r>
              <a:rPr lang="en-US" dirty="0"/>
              <a:t>visualizes the distribution of revenue across various cities like Bangalore, Chennai, and Mumbai. It allows for a quick comparison of which geographic markets are contributing the most to the bank's total income.</a:t>
            </a:r>
          </a:p>
          <a:p>
            <a:pPr marL="342900" indent="-342900">
              <a:buAutoNum type="arabicPeriod"/>
            </a:pPr>
            <a:r>
              <a:rPr lang="en-US" b="1" dirty="0"/>
              <a:t>Line graph </a:t>
            </a:r>
            <a:r>
              <a:rPr lang="en-US" dirty="0"/>
              <a:t>tracks the volume of transactions from January through April to identify patterns in customer activity. I</a:t>
            </a:r>
          </a:p>
          <a:p>
            <a:pPr marL="342900" indent="-342900">
              <a:buAutoNum type="arabicPeriod"/>
            </a:pPr>
            <a:r>
              <a:rPr lang="en-US" b="1" dirty="0"/>
              <a:t>Stacked bar chart </a:t>
            </a:r>
            <a:r>
              <a:rPr lang="en-US" dirty="0"/>
              <a:t>compares transaction volumes between "Existing" and "New" customer segments. The different colored segments likely represent sub-categories (like product types or regions) within those two primary customer groups.</a:t>
            </a:r>
          </a:p>
          <a:p>
            <a:pPr marL="342900" indent="-342900">
              <a:buAutoNum type="arabicPeriod"/>
            </a:pPr>
            <a:r>
              <a:rPr lang="en-US" b="1" dirty="0"/>
              <a:t>Bar chart </a:t>
            </a:r>
            <a:r>
              <a:rPr lang="en-US" dirty="0"/>
              <a:t>ranks different regions based on their total profitability, from Mumbai at the lower end to Pune at the highest. It clearly identifies Pune and Bangalore as the most profitable locations for the bank.</a:t>
            </a:r>
            <a:endParaRPr lang="en-IN" dirty="0"/>
          </a:p>
        </p:txBody>
      </p:sp>
    </p:spTree>
    <p:extLst>
      <p:ext uri="{BB962C8B-B14F-4D97-AF65-F5344CB8AC3E}">
        <p14:creationId xmlns:p14="http://schemas.microsoft.com/office/powerpoint/2010/main" val="196508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152902DB-60A1-4BBC-BD80-ABD51351CC53}"/>
              </a:ext>
              <a:ext uri="{C183D7F6-B498-43B3-948B-1728B52AA6E4}">
                <adec:decorative xmlns:adec="http://schemas.microsoft.com/office/drawing/2017/decorative" val="1"/>
              </a:ext>
            </a:extLst>
          </p:cNvPr>
          <p:cNvSpPr/>
          <p:nvPr/>
        </p:nvSpPr>
        <p:spPr>
          <a:xfrm>
            <a:off x="8204200" y="2590800"/>
            <a:ext cx="2209800" cy="2209800"/>
          </a:xfrm>
          <a:prstGeom prst="ellipse">
            <a:avLst/>
          </a:prstGeom>
          <a:solidFill>
            <a:schemeClr val="bg1"/>
          </a:solidFill>
          <a:ln>
            <a:noFill/>
          </a:ln>
          <a:effectLst>
            <a:innerShdw blurRad="2667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C8287F1B-3E25-4481-B199-24E6AD18DCEE}"/>
              </a:ext>
            </a:extLst>
          </p:cNvPr>
          <p:cNvSpPr>
            <a:spLocks noGrp="1"/>
          </p:cNvSpPr>
          <p:nvPr>
            <p:ph type="title"/>
          </p:nvPr>
        </p:nvSpPr>
        <p:spPr>
          <a:xfrm>
            <a:off x="548640" y="990600"/>
            <a:ext cx="10805160" cy="707886"/>
          </a:xfrm>
        </p:spPr>
        <p:txBody>
          <a:bodyPr/>
          <a:lstStyle/>
          <a:p>
            <a:r>
              <a:rPr lang="en-US" dirty="0"/>
              <a:t>SUMMARY</a:t>
            </a:r>
          </a:p>
        </p:txBody>
      </p:sp>
      <p:sp>
        <p:nvSpPr>
          <p:cNvPr id="3" name="Slide Number Placeholder 2">
            <a:extLst>
              <a:ext uri="{FF2B5EF4-FFF2-40B4-BE49-F238E27FC236}">
                <a16:creationId xmlns:a16="http://schemas.microsoft.com/office/drawing/2014/main" id="{101D4ADB-79CE-478E-8FBE-53E59DEC969A}"/>
              </a:ext>
            </a:extLst>
          </p:cNvPr>
          <p:cNvSpPr>
            <a:spLocks noGrp="1"/>
          </p:cNvSpPr>
          <p:nvPr>
            <p:ph type="sldNum" sz="quarter" idx="4"/>
          </p:nvPr>
        </p:nvSpPr>
        <p:spPr/>
        <p:txBody>
          <a:bodyPr/>
          <a:lstStyle/>
          <a:p>
            <a:fld id="{4FAB73BC-B049-4115-A692-8D63A059BFB8}" type="slidenum">
              <a:rPr lang="en-US" smtClean="0"/>
              <a:pPr/>
              <a:t>7</a:t>
            </a:fld>
            <a:endParaRPr lang="en-US" dirty="0"/>
          </a:p>
        </p:txBody>
      </p:sp>
      <p:sp>
        <p:nvSpPr>
          <p:cNvPr id="5" name="Text Placeholder 119">
            <a:extLst>
              <a:ext uri="{FF2B5EF4-FFF2-40B4-BE49-F238E27FC236}">
                <a16:creationId xmlns:a16="http://schemas.microsoft.com/office/drawing/2014/main" id="{A8F5C4E3-6105-466B-A340-80D73DB227A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graphicFrame>
        <p:nvGraphicFramePr>
          <p:cNvPr id="7" name="Chart 6" descr="chart">
            <a:extLst>
              <a:ext uri="{FF2B5EF4-FFF2-40B4-BE49-F238E27FC236}">
                <a16:creationId xmlns:a16="http://schemas.microsoft.com/office/drawing/2014/main" id="{423F99F7-105E-4F90-AEE5-0ABC1BA8E8B2}"/>
              </a:ext>
            </a:extLst>
          </p:cNvPr>
          <p:cNvGraphicFramePr/>
          <p:nvPr>
            <p:extLst>
              <p:ext uri="{D42A27DB-BD31-4B8C-83A1-F6EECF244321}">
                <p14:modId xmlns:p14="http://schemas.microsoft.com/office/powerpoint/2010/main" val="1802013372"/>
              </p:ext>
            </p:extLst>
          </p:nvPr>
        </p:nvGraphicFramePr>
        <p:xfrm>
          <a:off x="7543800" y="2133601"/>
          <a:ext cx="3530600" cy="289560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Graphic 9">
            <a:extLst>
              <a:ext uri="{FF2B5EF4-FFF2-40B4-BE49-F238E27FC236}">
                <a16:creationId xmlns:a16="http://schemas.microsoft.com/office/drawing/2014/main" id="{36D8B7C8-55F2-49D9-A8C1-5754C2A7D9F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1900" y="3238500"/>
            <a:ext cx="914400" cy="914400"/>
          </a:xfrm>
          <a:prstGeom prst="rect">
            <a:avLst/>
          </a:prstGeom>
        </p:spPr>
      </p:pic>
      <p:sp>
        <p:nvSpPr>
          <p:cNvPr id="9" name="Content Placeholder 12">
            <a:extLst>
              <a:ext uri="{FF2B5EF4-FFF2-40B4-BE49-F238E27FC236}">
                <a16:creationId xmlns:a16="http://schemas.microsoft.com/office/drawing/2014/main" id="{5F307770-38D8-49CA-BFD0-64F78C89348C}"/>
              </a:ext>
            </a:extLst>
          </p:cNvPr>
          <p:cNvSpPr txBox="1">
            <a:spLocks/>
          </p:cNvSpPr>
          <p:nvPr/>
        </p:nvSpPr>
        <p:spPr>
          <a:xfrm>
            <a:off x="548641" y="1905000"/>
            <a:ext cx="5547359" cy="4191000"/>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dirty="0"/>
              <a:t>The bank analysis dashboard provides a comprehensive view of financial performance through key metrics such as revenue, profit, and transaction trends .</a:t>
            </a:r>
          </a:p>
          <a:p>
            <a:pPr marL="0" indent="0">
              <a:buNone/>
            </a:pPr>
            <a:r>
              <a:rPr lang="en-US" dirty="0"/>
              <a:t>It highlights variations across regions, customer types, and payment channels, helping to understand business performance at a granular level . </a:t>
            </a:r>
          </a:p>
          <a:p>
            <a:pPr marL="0" indent="0">
              <a:buNone/>
            </a:pPr>
            <a:r>
              <a:rPr lang="en-US" dirty="0"/>
              <a:t>The Bank Analysis Dashboard reports a total revenue of 5.6M and a profit of 1.18M across 28,364 transactions. While Pune and Bangalore drive the highest profitability, a sharp decline in revenue and activity is visible in April. Growth remains heavily reliant on existing customers rather than new acquisitions.</a:t>
            </a:r>
          </a:p>
        </p:txBody>
      </p:sp>
    </p:spTree>
    <p:extLst>
      <p:ext uri="{BB962C8B-B14F-4D97-AF65-F5344CB8AC3E}">
        <p14:creationId xmlns:p14="http://schemas.microsoft.com/office/powerpoint/2010/main" val="2500734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0F36B-627E-8537-90BA-5C534CD31D55}"/>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324D7-FF9F-6238-25DD-C1AD4FD9F379}"/>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49E975CB-B23E-9D0D-05E3-EA3A92567836}"/>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3" name="Title 12">
            <a:extLst>
              <a:ext uri="{FF2B5EF4-FFF2-40B4-BE49-F238E27FC236}">
                <a16:creationId xmlns:a16="http://schemas.microsoft.com/office/drawing/2014/main" id="{83904B3F-46CB-B84F-A371-7815D8D70BB6}"/>
              </a:ext>
            </a:extLst>
          </p:cNvPr>
          <p:cNvSpPr>
            <a:spLocks noGrp="1"/>
          </p:cNvSpPr>
          <p:nvPr>
            <p:ph type="title"/>
          </p:nvPr>
        </p:nvSpPr>
        <p:spPr>
          <a:xfrm>
            <a:off x="1085850" y="2514600"/>
            <a:ext cx="9963150" cy="1072702"/>
          </a:xfrm>
        </p:spPr>
        <p:txBody>
          <a:bodyPr>
            <a:normAutofit fontScale="90000"/>
          </a:bodyPr>
          <a:lstStyle/>
          <a:p>
            <a:r>
              <a:rPr lang="en-US" dirty="0"/>
              <a:t>POWER BI dashboard</a:t>
            </a:r>
            <a:br>
              <a:rPr lang="en-US" dirty="0"/>
            </a:br>
            <a:endParaRPr lang="en-US" dirty="0"/>
          </a:p>
        </p:txBody>
      </p:sp>
      <p:sp>
        <p:nvSpPr>
          <p:cNvPr id="16" name="Text Placeholder 15">
            <a:extLst>
              <a:ext uri="{FF2B5EF4-FFF2-40B4-BE49-F238E27FC236}">
                <a16:creationId xmlns:a16="http://schemas.microsoft.com/office/drawing/2014/main" id="{1D47332B-9C7E-AB93-082B-201657AD7DBF}"/>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2" name="TextBox 1">
            <a:extLst>
              <a:ext uri="{FF2B5EF4-FFF2-40B4-BE49-F238E27FC236}">
                <a16:creationId xmlns:a16="http://schemas.microsoft.com/office/drawing/2014/main" id="{C747E5BA-1769-49FA-8732-8C9925B51134}"/>
              </a:ext>
            </a:extLst>
          </p:cNvPr>
          <p:cNvSpPr txBox="1"/>
          <p:nvPr/>
        </p:nvSpPr>
        <p:spPr>
          <a:xfrm>
            <a:off x="1371600" y="3064083"/>
            <a:ext cx="5867400" cy="523220"/>
          </a:xfrm>
          <a:prstGeom prst="rect">
            <a:avLst/>
          </a:prstGeom>
          <a:noFill/>
        </p:spPr>
        <p:txBody>
          <a:bodyPr wrap="square" rtlCol="0">
            <a:spAutoFit/>
          </a:bodyPr>
          <a:lstStyle/>
          <a:p>
            <a:r>
              <a:rPr lang="en-US" sz="2800" dirty="0">
                <a:solidFill>
                  <a:srgbClr val="EEEEEE"/>
                </a:solidFill>
                <a:latin typeface="+mj-lt"/>
              </a:rPr>
              <a:t>PINTEREST GROWTH &amp; PERFORMANCE DASHBOARD</a:t>
            </a:r>
            <a:endParaRPr lang="en-IN" sz="2800" dirty="0">
              <a:solidFill>
                <a:srgbClr val="EEEEEE"/>
              </a:solidFill>
              <a:latin typeface="+mj-lt"/>
            </a:endParaRPr>
          </a:p>
        </p:txBody>
      </p:sp>
    </p:spTree>
    <p:extLst>
      <p:ext uri="{BB962C8B-B14F-4D97-AF65-F5344CB8AC3E}">
        <p14:creationId xmlns:p14="http://schemas.microsoft.com/office/powerpoint/2010/main" val="413281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C7A3-D7AD-332A-F206-7943E4758D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9719BE7-21E3-213E-8371-066BA1BD11EF}"/>
              </a:ext>
            </a:extLst>
          </p:cNvPr>
          <p:cNvSpPr>
            <a:spLocks noGrp="1"/>
          </p:cNvSpPr>
          <p:nvPr>
            <p:ph type="title"/>
          </p:nvPr>
        </p:nvSpPr>
        <p:spPr/>
        <p:txBody>
          <a:bodyPr/>
          <a:lstStyle/>
          <a:p>
            <a:r>
              <a:rPr lang="en-US" dirty="0"/>
              <a:t>CHARTS</a:t>
            </a:r>
          </a:p>
        </p:txBody>
      </p:sp>
      <p:sp>
        <p:nvSpPr>
          <p:cNvPr id="11" name="Slide Number Placeholder 10">
            <a:extLst>
              <a:ext uri="{FF2B5EF4-FFF2-40B4-BE49-F238E27FC236}">
                <a16:creationId xmlns:a16="http://schemas.microsoft.com/office/drawing/2014/main" id="{4D1D2477-6FA6-9CB7-8F99-D6C175B64B4A}"/>
              </a:ext>
            </a:extLst>
          </p:cNvPr>
          <p:cNvSpPr>
            <a:spLocks noGrp="1"/>
          </p:cNvSpPr>
          <p:nvPr>
            <p:ph type="sldNum" sz="quarter" idx="4"/>
          </p:nvPr>
        </p:nvSpPr>
        <p:spPr/>
        <p:txBody>
          <a:bodyPr/>
          <a:lstStyle/>
          <a:p>
            <a:fld id="{4FAB73BC-B049-4115-A692-8D63A059BFB8}" type="slidenum">
              <a:rPr lang="en-US" smtClean="0"/>
              <a:pPr/>
              <a:t>9</a:t>
            </a:fld>
            <a:endParaRPr lang="en-US" dirty="0"/>
          </a:p>
        </p:txBody>
      </p:sp>
      <p:sp>
        <p:nvSpPr>
          <p:cNvPr id="12" name="Text Placeholder 119">
            <a:extLst>
              <a:ext uri="{FF2B5EF4-FFF2-40B4-BE49-F238E27FC236}">
                <a16:creationId xmlns:a16="http://schemas.microsoft.com/office/drawing/2014/main" id="{43702E8D-A62A-8C9D-FA44-024A68D45FE2}"/>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B6B3E7E7-6A4F-572A-2EDB-4B697DD84D22}"/>
              </a:ext>
            </a:extLst>
          </p:cNvPr>
          <p:cNvSpPr txBox="1"/>
          <p:nvPr/>
        </p:nvSpPr>
        <p:spPr>
          <a:xfrm>
            <a:off x="628788" y="1905000"/>
            <a:ext cx="9277212" cy="3139321"/>
          </a:xfrm>
          <a:prstGeom prst="rect">
            <a:avLst/>
          </a:prstGeom>
          <a:noFill/>
        </p:spPr>
        <p:txBody>
          <a:bodyPr wrap="square" rtlCol="0">
            <a:spAutoFit/>
          </a:bodyPr>
          <a:lstStyle/>
          <a:p>
            <a:pPr marL="342900" indent="-342900">
              <a:buAutoNum type="arabicPeriod"/>
            </a:pPr>
            <a:r>
              <a:rPr lang="en-US" b="1" dirty="0"/>
              <a:t>KPI Cards</a:t>
            </a:r>
            <a:r>
              <a:rPr lang="en-US" dirty="0"/>
              <a:t>: Display high-level totals, including 2M Impressions, 2.8K Average Clicks, and 115K Saves, providing an immediate snapshot of reach and interest.</a:t>
            </a:r>
          </a:p>
          <a:p>
            <a:pPr marL="342900" indent="-342900">
              <a:buAutoNum type="arabicPeriod"/>
            </a:pPr>
            <a:r>
              <a:rPr lang="en-US" b="1" dirty="0"/>
              <a:t>Line chart </a:t>
            </a:r>
            <a:r>
              <a:rPr lang="en-US" dirty="0"/>
              <a:t>showing reach peaked in February but faced a sharp decline into April, indicating a drop in content visibility.</a:t>
            </a:r>
          </a:p>
          <a:p>
            <a:pPr marL="342900" indent="-342900">
              <a:buAutoNum type="arabicPeriod"/>
            </a:pPr>
            <a:r>
              <a:rPr lang="en-US" b="1" dirty="0"/>
              <a:t>Donut chart </a:t>
            </a:r>
            <a:r>
              <a:rPr lang="en-US" dirty="0"/>
              <a:t>illustrating how different formats (likely Idea, Video, or Standard Pins) contribute to the overall engagement percentage.</a:t>
            </a:r>
          </a:p>
          <a:p>
            <a:pPr marL="342900" indent="-342900">
              <a:buAutoNum type="arabicPeriod"/>
            </a:pPr>
            <a:r>
              <a:rPr lang="en-US" b="1" dirty="0"/>
              <a:t>Bar chart </a:t>
            </a:r>
            <a:r>
              <a:rPr lang="en-US" dirty="0"/>
              <a:t>revealing that Female users contribute significantly more saves than Male users, identifying the core audience.</a:t>
            </a:r>
          </a:p>
          <a:p>
            <a:pPr marL="342900" indent="-342900">
              <a:buAutoNum type="arabicPeriod"/>
            </a:pPr>
            <a:r>
              <a:rPr lang="en-US" b="1" dirty="0"/>
              <a:t>Area chart </a:t>
            </a:r>
            <a:r>
              <a:rPr lang="en-US" dirty="0"/>
              <a:t>showing steady growth through March followed by a steep drop in new followers.</a:t>
            </a:r>
          </a:p>
          <a:p>
            <a:pPr marL="342900" indent="-342900">
              <a:buAutoNum type="arabicPeriod"/>
            </a:pPr>
            <a:r>
              <a:rPr lang="en-US" dirty="0"/>
              <a:t> </a:t>
            </a:r>
            <a:r>
              <a:rPr lang="en-US" b="1" dirty="0"/>
              <a:t>Vertical funnel chart </a:t>
            </a:r>
            <a:r>
              <a:rPr lang="en-US" dirty="0"/>
              <a:t>visualizing the conversion path from total impressions down to clicks and saves.</a:t>
            </a:r>
            <a:endParaRPr lang="en-IN" dirty="0"/>
          </a:p>
        </p:txBody>
      </p:sp>
    </p:spTree>
    <p:extLst>
      <p:ext uri="{BB962C8B-B14F-4D97-AF65-F5344CB8AC3E}">
        <p14:creationId xmlns:p14="http://schemas.microsoft.com/office/powerpoint/2010/main" val="4030820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CC40-1A9A-B4C1-E612-59318D002191}"/>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CBD03A74-280C-54F9-E435-ED713153029D}"/>
              </a:ext>
              <a:ext uri="{C183D7F6-B498-43B3-948B-1728B52AA6E4}">
                <adec:decorative xmlns:adec="http://schemas.microsoft.com/office/drawing/2017/decorative" val="1"/>
              </a:ext>
            </a:extLst>
          </p:cNvPr>
          <p:cNvSpPr/>
          <p:nvPr/>
        </p:nvSpPr>
        <p:spPr>
          <a:xfrm>
            <a:off x="8204200" y="2590800"/>
            <a:ext cx="2209800" cy="2209800"/>
          </a:xfrm>
          <a:prstGeom prst="ellipse">
            <a:avLst/>
          </a:prstGeom>
          <a:solidFill>
            <a:schemeClr val="bg1"/>
          </a:solidFill>
          <a:ln>
            <a:noFill/>
          </a:ln>
          <a:effectLst>
            <a:innerShdw blurRad="2667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BC592D19-B177-5183-7A50-B47AC87C2DA6}"/>
              </a:ext>
            </a:extLst>
          </p:cNvPr>
          <p:cNvSpPr>
            <a:spLocks noGrp="1"/>
          </p:cNvSpPr>
          <p:nvPr>
            <p:ph type="title"/>
          </p:nvPr>
        </p:nvSpPr>
        <p:spPr>
          <a:xfrm>
            <a:off x="548640" y="990600"/>
            <a:ext cx="10805160" cy="707886"/>
          </a:xfrm>
        </p:spPr>
        <p:txBody>
          <a:bodyPr/>
          <a:lstStyle/>
          <a:p>
            <a:r>
              <a:rPr lang="en-US" dirty="0"/>
              <a:t>SUMMARY</a:t>
            </a:r>
          </a:p>
        </p:txBody>
      </p:sp>
      <p:sp>
        <p:nvSpPr>
          <p:cNvPr id="3" name="Slide Number Placeholder 2">
            <a:extLst>
              <a:ext uri="{FF2B5EF4-FFF2-40B4-BE49-F238E27FC236}">
                <a16:creationId xmlns:a16="http://schemas.microsoft.com/office/drawing/2014/main" id="{56EF4169-C221-B5AB-DE4F-490D740C6B63}"/>
              </a:ext>
            </a:extLst>
          </p:cNvPr>
          <p:cNvSpPr>
            <a:spLocks noGrp="1"/>
          </p:cNvSpPr>
          <p:nvPr>
            <p:ph type="sldNum" sz="quarter" idx="4"/>
          </p:nvPr>
        </p:nvSpPr>
        <p:spPr/>
        <p:txBody>
          <a:bodyPr/>
          <a:lstStyle/>
          <a:p>
            <a:fld id="{4FAB73BC-B049-4115-A692-8D63A059BFB8}" type="slidenum">
              <a:rPr lang="en-US" smtClean="0"/>
              <a:pPr/>
              <a:t>10</a:t>
            </a:fld>
            <a:endParaRPr lang="en-US" dirty="0"/>
          </a:p>
        </p:txBody>
      </p:sp>
      <p:sp>
        <p:nvSpPr>
          <p:cNvPr id="5" name="Text Placeholder 119">
            <a:extLst>
              <a:ext uri="{FF2B5EF4-FFF2-40B4-BE49-F238E27FC236}">
                <a16:creationId xmlns:a16="http://schemas.microsoft.com/office/drawing/2014/main" id="{BD01BCD8-A64D-1E9C-DD39-91DE2F254545}"/>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graphicFrame>
        <p:nvGraphicFramePr>
          <p:cNvPr id="7" name="Chart 6" descr="chart">
            <a:extLst>
              <a:ext uri="{FF2B5EF4-FFF2-40B4-BE49-F238E27FC236}">
                <a16:creationId xmlns:a16="http://schemas.microsoft.com/office/drawing/2014/main" id="{243F125C-9EA2-A7CC-931B-EDE28DE04CBC}"/>
              </a:ext>
            </a:extLst>
          </p:cNvPr>
          <p:cNvGraphicFramePr/>
          <p:nvPr/>
        </p:nvGraphicFramePr>
        <p:xfrm>
          <a:off x="7543800" y="2133601"/>
          <a:ext cx="3530600" cy="289560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Graphic 9">
            <a:extLst>
              <a:ext uri="{FF2B5EF4-FFF2-40B4-BE49-F238E27FC236}">
                <a16:creationId xmlns:a16="http://schemas.microsoft.com/office/drawing/2014/main" id="{F9B0036A-BE74-58E7-75FF-220A0BCBFF6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1900" y="3238500"/>
            <a:ext cx="914400" cy="914400"/>
          </a:xfrm>
          <a:prstGeom prst="rect">
            <a:avLst/>
          </a:prstGeom>
        </p:spPr>
      </p:pic>
      <p:sp>
        <p:nvSpPr>
          <p:cNvPr id="9" name="Content Placeholder 12">
            <a:extLst>
              <a:ext uri="{FF2B5EF4-FFF2-40B4-BE49-F238E27FC236}">
                <a16:creationId xmlns:a16="http://schemas.microsoft.com/office/drawing/2014/main" id="{FAC427C2-021C-EE30-233D-6A72F2279F39}"/>
              </a:ext>
            </a:extLst>
          </p:cNvPr>
          <p:cNvSpPr txBox="1">
            <a:spLocks/>
          </p:cNvSpPr>
          <p:nvPr/>
        </p:nvSpPr>
        <p:spPr>
          <a:xfrm>
            <a:off x="548641" y="1905000"/>
            <a:ext cx="5547359" cy="4191000"/>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dirty="0"/>
              <a:t>Overall, the dashboard provides valuable insights into content performance, audience behavior, and growth trends on Pinterest. It supports data-driven decisions to improve content strategy, increase engagement, and optimize marketing performance.</a:t>
            </a:r>
          </a:p>
          <a:p>
            <a:pPr marL="0" indent="0">
              <a:buNone/>
            </a:pPr>
            <a:r>
              <a:rPr lang="en-US" dirty="0"/>
              <a:t>The dashboard highlights a successful first quarter with 2M total impressions and high save rates, particularly among female users. However, there is a significant performance drop-off in April across impressions, follower growth, and engagement. While the core audience is well-defined, the strategy needs adjustment to reverse the recent decline in reach and acquisition.</a:t>
            </a:r>
          </a:p>
        </p:txBody>
      </p:sp>
    </p:spTree>
    <p:extLst>
      <p:ext uri="{BB962C8B-B14F-4D97-AF65-F5344CB8AC3E}">
        <p14:creationId xmlns:p14="http://schemas.microsoft.com/office/powerpoint/2010/main" val="4094768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0DDB9-7292-5387-281B-AE7DC89C0885}"/>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8438EB78-1678-3887-E972-61A291825CB6}"/>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1201E235-E7A6-CFD5-66FA-F6BBBA6B1524}"/>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3" name="Title 12">
            <a:extLst>
              <a:ext uri="{FF2B5EF4-FFF2-40B4-BE49-F238E27FC236}">
                <a16:creationId xmlns:a16="http://schemas.microsoft.com/office/drawing/2014/main" id="{AF2CC0B7-D771-7AD1-7129-9E19E2F19194}"/>
              </a:ext>
            </a:extLst>
          </p:cNvPr>
          <p:cNvSpPr>
            <a:spLocks noGrp="1"/>
          </p:cNvSpPr>
          <p:nvPr>
            <p:ph type="title"/>
          </p:nvPr>
        </p:nvSpPr>
        <p:spPr>
          <a:xfrm>
            <a:off x="1085850" y="2514600"/>
            <a:ext cx="9963150" cy="1072702"/>
          </a:xfrm>
        </p:spPr>
        <p:txBody>
          <a:bodyPr>
            <a:normAutofit fontScale="90000"/>
          </a:bodyPr>
          <a:lstStyle/>
          <a:p>
            <a:r>
              <a:rPr lang="en-US" dirty="0"/>
              <a:t>EXCEL dashboard</a:t>
            </a:r>
            <a:br>
              <a:rPr lang="en-US" dirty="0"/>
            </a:br>
            <a:endParaRPr lang="en-US" dirty="0"/>
          </a:p>
        </p:txBody>
      </p:sp>
      <p:sp>
        <p:nvSpPr>
          <p:cNvPr id="16" name="Text Placeholder 15">
            <a:extLst>
              <a:ext uri="{FF2B5EF4-FFF2-40B4-BE49-F238E27FC236}">
                <a16:creationId xmlns:a16="http://schemas.microsoft.com/office/drawing/2014/main" id="{BC45DE3A-4D8C-E4A4-7E2F-D21410EEA758}"/>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2" name="TextBox 1">
            <a:extLst>
              <a:ext uri="{FF2B5EF4-FFF2-40B4-BE49-F238E27FC236}">
                <a16:creationId xmlns:a16="http://schemas.microsoft.com/office/drawing/2014/main" id="{5E4657DB-5DC8-9816-23E8-DB1A1D1EA2C2}"/>
              </a:ext>
            </a:extLst>
          </p:cNvPr>
          <p:cNvSpPr txBox="1"/>
          <p:nvPr/>
        </p:nvSpPr>
        <p:spPr>
          <a:xfrm>
            <a:off x="1371600" y="3064083"/>
            <a:ext cx="5867400" cy="523220"/>
          </a:xfrm>
          <a:prstGeom prst="rect">
            <a:avLst/>
          </a:prstGeom>
          <a:noFill/>
        </p:spPr>
        <p:txBody>
          <a:bodyPr wrap="square" rtlCol="0">
            <a:spAutoFit/>
          </a:bodyPr>
          <a:lstStyle/>
          <a:p>
            <a:r>
              <a:rPr lang="en-US" sz="2800" dirty="0">
                <a:solidFill>
                  <a:srgbClr val="EEEEEE"/>
                </a:solidFill>
                <a:latin typeface="+mj-lt"/>
              </a:rPr>
              <a:t>FINANCIAL YEAR BUDGET PLANNER DASHBOARD</a:t>
            </a:r>
            <a:endParaRPr lang="en-IN" sz="2800" dirty="0">
              <a:solidFill>
                <a:srgbClr val="EEEEEE"/>
              </a:solidFill>
              <a:latin typeface="+mj-lt"/>
            </a:endParaRPr>
          </a:p>
        </p:txBody>
      </p:sp>
    </p:spTree>
    <p:extLst>
      <p:ext uri="{BB962C8B-B14F-4D97-AF65-F5344CB8AC3E}">
        <p14:creationId xmlns:p14="http://schemas.microsoft.com/office/powerpoint/2010/main" val="414693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2F278-BE05-C457-F452-B98EE63CA0E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6EE4E25-5DD9-6C90-9379-21C3A7042123}"/>
              </a:ext>
            </a:extLst>
          </p:cNvPr>
          <p:cNvSpPr>
            <a:spLocks noGrp="1"/>
          </p:cNvSpPr>
          <p:nvPr>
            <p:ph type="title"/>
          </p:nvPr>
        </p:nvSpPr>
        <p:spPr/>
        <p:txBody>
          <a:bodyPr/>
          <a:lstStyle/>
          <a:p>
            <a:r>
              <a:rPr lang="en-US" dirty="0"/>
              <a:t>CHARTS</a:t>
            </a:r>
          </a:p>
        </p:txBody>
      </p:sp>
      <p:sp>
        <p:nvSpPr>
          <p:cNvPr id="11" name="Slide Number Placeholder 10">
            <a:extLst>
              <a:ext uri="{FF2B5EF4-FFF2-40B4-BE49-F238E27FC236}">
                <a16:creationId xmlns:a16="http://schemas.microsoft.com/office/drawing/2014/main" id="{76889AB4-28DE-DA98-5726-C17F63FFB23A}"/>
              </a:ext>
            </a:extLst>
          </p:cNvPr>
          <p:cNvSpPr>
            <a:spLocks noGrp="1"/>
          </p:cNvSpPr>
          <p:nvPr>
            <p:ph type="sldNum" sz="quarter" idx="4"/>
          </p:nvPr>
        </p:nvSpPr>
        <p:spPr/>
        <p:txBody>
          <a:bodyPr/>
          <a:lstStyle/>
          <a:p>
            <a:fld id="{4FAB73BC-B049-4115-A692-8D63A059BFB8}" type="slidenum">
              <a:rPr lang="en-US" smtClean="0"/>
              <a:pPr/>
              <a:t>12</a:t>
            </a:fld>
            <a:endParaRPr lang="en-US" dirty="0"/>
          </a:p>
        </p:txBody>
      </p:sp>
      <p:sp>
        <p:nvSpPr>
          <p:cNvPr id="12" name="Text Placeholder 119">
            <a:extLst>
              <a:ext uri="{FF2B5EF4-FFF2-40B4-BE49-F238E27FC236}">
                <a16:creationId xmlns:a16="http://schemas.microsoft.com/office/drawing/2014/main" id="{3A130AA9-7304-8B7E-75E2-CFE07B0D0652}"/>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C7EEA481-F4F1-7369-F053-3B2B81011BC0}"/>
              </a:ext>
            </a:extLst>
          </p:cNvPr>
          <p:cNvSpPr txBox="1"/>
          <p:nvPr/>
        </p:nvSpPr>
        <p:spPr>
          <a:xfrm>
            <a:off x="628788" y="1905000"/>
            <a:ext cx="9277212" cy="2585323"/>
          </a:xfrm>
          <a:prstGeom prst="rect">
            <a:avLst/>
          </a:prstGeom>
          <a:noFill/>
        </p:spPr>
        <p:txBody>
          <a:bodyPr wrap="square" rtlCol="0">
            <a:spAutoFit/>
          </a:bodyPr>
          <a:lstStyle/>
          <a:p>
            <a:pPr marL="342900" indent="-342900">
              <a:buAutoNum type="arabicPeriod"/>
            </a:pPr>
            <a:r>
              <a:rPr lang="en-US" b="1" dirty="0"/>
              <a:t>Bar chart </a:t>
            </a:r>
            <a:r>
              <a:rPr lang="en-US" dirty="0"/>
              <a:t>comparing total outflows to total inflows, showing that income significantly outweighs expenses.</a:t>
            </a:r>
          </a:p>
          <a:p>
            <a:pPr marL="342900" indent="-342900">
              <a:buAutoNum type="arabicPeriod"/>
            </a:pPr>
            <a:r>
              <a:rPr lang="en-US" b="1" dirty="0"/>
              <a:t>Donut chart </a:t>
            </a:r>
            <a:r>
              <a:rPr lang="en-US" dirty="0"/>
              <a:t>highlighting the three months with the highest spending activity.</a:t>
            </a:r>
          </a:p>
          <a:p>
            <a:pPr marL="342900" indent="-342900">
              <a:buAutoNum type="arabicPeriod"/>
            </a:pPr>
            <a:r>
              <a:rPr lang="en-US" b="1" dirty="0"/>
              <a:t>Line graph </a:t>
            </a:r>
            <a:r>
              <a:rPr lang="en-US" dirty="0"/>
              <a:t>visualizing spending fluctuations over the year, showing peaks in March and November.</a:t>
            </a:r>
          </a:p>
          <a:p>
            <a:pPr marL="342900" indent="-342900">
              <a:buAutoNum type="arabicPeriod"/>
            </a:pPr>
            <a:r>
              <a:rPr lang="en-US" b="1" dirty="0"/>
              <a:t>Stacked Bar</a:t>
            </a:r>
            <a:r>
              <a:rPr lang="en-US" dirty="0"/>
              <a:t>: A detailed bar chart breaking down monthly costs by categories like Rent, Bills, Food, and Healthcare to show exactly where the money went each month.</a:t>
            </a:r>
          </a:p>
          <a:p>
            <a:pPr marL="342900" indent="-342900">
              <a:buAutoNum type="arabicPeriod"/>
            </a:pPr>
            <a:r>
              <a:rPr lang="en-US" b="1" dirty="0"/>
              <a:t>Pie chart </a:t>
            </a:r>
            <a:r>
              <a:rPr lang="en-US" dirty="0"/>
              <a:t>showing the distribution of spending by payment method (Bank Transfer, Card, Cash, UPI), with bank transfers appearing as a major share.</a:t>
            </a:r>
            <a:endParaRPr lang="en-IN" dirty="0"/>
          </a:p>
        </p:txBody>
      </p:sp>
    </p:spTree>
    <p:extLst>
      <p:ext uri="{BB962C8B-B14F-4D97-AF65-F5344CB8AC3E}">
        <p14:creationId xmlns:p14="http://schemas.microsoft.com/office/powerpoint/2010/main" val="3988893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293B6-70A1-809A-F8E3-A1793E8909A8}"/>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292C7AD0-24E3-F96F-84AB-2459AAF133E2}"/>
              </a:ext>
              <a:ext uri="{C183D7F6-B498-43B3-948B-1728B52AA6E4}">
                <adec:decorative xmlns:adec="http://schemas.microsoft.com/office/drawing/2017/decorative" val="1"/>
              </a:ext>
            </a:extLst>
          </p:cNvPr>
          <p:cNvSpPr/>
          <p:nvPr/>
        </p:nvSpPr>
        <p:spPr>
          <a:xfrm>
            <a:off x="8204200" y="2590800"/>
            <a:ext cx="2209800" cy="2209800"/>
          </a:xfrm>
          <a:prstGeom prst="ellipse">
            <a:avLst/>
          </a:prstGeom>
          <a:solidFill>
            <a:schemeClr val="bg1"/>
          </a:solidFill>
          <a:ln>
            <a:noFill/>
          </a:ln>
          <a:effectLst>
            <a:innerShdw blurRad="2667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055491C4-220D-3ED0-0137-764AB70849A4}"/>
              </a:ext>
            </a:extLst>
          </p:cNvPr>
          <p:cNvSpPr>
            <a:spLocks noGrp="1"/>
          </p:cNvSpPr>
          <p:nvPr>
            <p:ph type="title"/>
          </p:nvPr>
        </p:nvSpPr>
        <p:spPr>
          <a:xfrm>
            <a:off x="548640" y="990600"/>
            <a:ext cx="10805160" cy="707886"/>
          </a:xfrm>
        </p:spPr>
        <p:txBody>
          <a:bodyPr/>
          <a:lstStyle/>
          <a:p>
            <a:r>
              <a:rPr lang="en-US" dirty="0"/>
              <a:t>SUMMARY</a:t>
            </a:r>
          </a:p>
        </p:txBody>
      </p:sp>
      <p:sp>
        <p:nvSpPr>
          <p:cNvPr id="3" name="Slide Number Placeholder 2">
            <a:extLst>
              <a:ext uri="{FF2B5EF4-FFF2-40B4-BE49-F238E27FC236}">
                <a16:creationId xmlns:a16="http://schemas.microsoft.com/office/drawing/2014/main" id="{3AEDA495-69FA-B39F-BBBE-BB1C821F278E}"/>
              </a:ext>
            </a:extLst>
          </p:cNvPr>
          <p:cNvSpPr>
            <a:spLocks noGrp="1"/>
          </p:cNvSpPr>
          <p:nvPr>
            <p:ph type="sldNum" sz="quarter" idx="4"/>
          </p:nvPr>
        </p:nvSpPr>
        <p:spPr/>
        <p:txBody>
          <a:bodyPr/>
          <a:lstStyle/>
          <a:p>
            <a:fld id="{4FAB73BC-B049-4115-A692-8D63A059BFB8}" type="slidenum">
              <a:rPr lang="en-US" smtClean="0"/>
              <a:pPr/>
              <a:t>13</a:t>
            </a:fld>
            <a:endParaRPr lang="en-US" dirty="0"/>
          </a:p>
        </p:txBody>
      </p:sp>
      <p:sp>
        <p:nvSpPr>
          <p:cNvPr id="5" name="Text Placeholder 119">
            <a:extLst>
              <a:ext uri="{FF2B5EF4-FFF2-40B4-BE49-F238E27FC236}">
                <a16:creationId xmlns:a16="http://schemas.microsoft.com/office/drawing/2014/main" id="{C833560E-3A39-DEDA-A63F-B9BA1A63E0A7}"/>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graphicFrame>
        <p:nvGraphicFramePr>
          <p:cNvPr id="7" name="Chart 6" descr="chart">
            <a:extLst>
              <a:ext uri="{FF2B5EF4-FFF2-40B4-BE49-F238E27FC236}">
                <a16:creationId xmlns:a16="http://schemas.microsoft.com/office/drawing/2014/main" id="{7054BCDB-9DD4-9111-2B7B-08AFB8B85BC3}"/>
              </a:ext>
            </a:extLst>
          </p:cNvPr>
          <p:cNvGraphicFramePr/>
          <p:nvPr/>
        </p:nvGraphicFramePr>
        <p:xfrm>
          <a:off x="7543800" y="2133601"/>
          <a:ext cx="3530600" cy="289560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Graphic 9">
            <a:extLst>
              <a:ext uri="{FF2B5EF4-FFF2-40B4-BE49-F238E27FC236}">
                <a16:creationId xmlns:a16="http://schemas.microsoft.com/office/drawing/2014/main" id="{461E96B4-6A86-4EFF-D13C-E334E04CFD8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1900" y="3238500"/>
            <a:ext cx="914400" cy="914400"/>
          </a:xfrm>
          <a:prstGeom prst="rect">
            <a:avLst/>
          </a:prstGeom>
        </p:spPr>
      </p:pic>
      <p:sp>
        <p:nvSpPr>
          <p:cNvPr id="9" name="Content Placeholder 12">
            <a:extLst>
              <a:ext uri="{FF2B5EF4-FFF2-40B4-BE49-F238E27FC236}">
                <a16:creationId xmlns:a16="http://schemas.microsoft.com/office/drawing/2014/main" id="{B582483C-7DB4-7885-8F19-BB15D6FDD80F}"/>
              </a:ext>
            </a:extLst>
          </p:cNvPr>
          <p:cNvSpPr txBox="1">
            <a:spLocks/>
          </p:cNvSpPr>
          <p:nvPr/>
        </p:nvSpPr>
        <p:spPr>
          <a:xfrm>
            <a:off x="548641" y="1905000"/>
            <a:ext cx="5547359" cy="4191000"/>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dirty="0"/>
              <a:t>The dashboard indicates a healthy financial position, as Total Income far exceeds Total Expenses, leaving substantial room for savings. While spending is generally stable, there are visible spikes in March, May, and November, driven largely by specific categories like Rent and Bills. To optimize the budget further, focusing on the high "Bank Transfer" and "Bill" categories during those peak months would be most effective.</a:t>
            </a:r>
          </a:p>
        </p:txBody>
      </p:sp>
    </p:spTree>
    <p:extLst>
      <p:ext uri="{BB962C8B-B14F-4D97-AF65-F5344CB8AC3E}">
        <p14:creationId xmlns:p14="http://schemas.microsoft.com/office/powerpoint/2010/main" val="685625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CA9B6-8BE0-4327-F406-825C987FD9D0}"/>
            </a:ext>
          </a:extLst>
        </p:cNvPr>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8710C6AA-068E-7AAB-1E6F-E13FFA038023}"/>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5D1D13F3-D84A-FB81-33DA-8D1C33177083}"/>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E7F886ED-9803-FC34-F31B-E1A872975D59}"/>
              </a:ext>
            </a:extLst>
          </p:cNvPr>
          <p:cNvSpPr>
            <a:spLocks noGrp="1"/>
          </p:cNvSpPr>
          <p:nvPr>
            <p:ph type="ctrTitle"/>
          </p:nvPr>
        </p:nvSpPr>
        <p:spPr>
          <a:xfrm>
            <a:off x="1257300" y="990600"/>
            <a:ext cx="4114800" cy="5715000"/>
          </a:xfrm>
        </p:spPr>
        <p:txBody>
          <a:bodyPr/>
          <a:lstStyle/>
          <a:p>
            <a:r>
              <a:rPr lang="en-US" sz="2400" dirty="0"/>
              <a:t>In summary, this presentation has examined the essential role of effective data visualization in today’s data-centric landscape. We explored three powerful tools—Excel, Tableau, and Power BI—each offering distinct features and capabilities for building interactive dashboards. By comparing their strengths and applications, we highlighted how these tools can convert raw data into actionable insights, empowering organizations to make informed decisions and drive strategic growth</a:t>
            </a:r>
            <a:r>
              <a:rPr lang="en-US" sz="1400" dirty="0"/>
              <a:t>.</a:t>
            </a:r>
            <a:br>
              <a:rPr lang="en-US" sz="1400" dirty="0"/>
            </a:br>
            <a:endParaRPr lang="en-US" sz="1400" dirty="0"/>
          </a:p>
        </p:txBody>
      </p:sp>
      <p:sp>
        <p:nvSpPr>
          <p:cNvPr id="44" name="Subtitle 43">
            <a:extLst>
              <a:ext uri="{FF2B5EF4-FFF2-40B4-BE49-F238E27FC236}">
                <a16:creationId xmlns:a16="http://schemas.microsoft.com/office/drawing/2014/main" id="{A1297675-D430-AF11-7374-E5FEBA7ECE9C}"/>
              </a:ext>
            </a:extLst>
          </p:cNvPr>
          <p:cNvSpPr>
            <a:spLocks noGrp="1"/>
          </p:cNvSpPr>
          <p:nvPr>
            <p:ph type="subTitle" idx="1"/>
          </p:nvPr>
        </p:nvSpPr>
        <p:spPr>
          <a:xfrm>
            <a:off x="6324600" y="1905000"/>
            <a:ext cx="4876800" cy="1371602"/>
          </a:xfrm>
        </p:spPr>
        <p:txBody>
          <a:bodyPr>
            <a:noAutofit/>
          </a:bodyPr>
          <a:lstStyle/>
          <a:p>
            <a:pPr marL="342900" indent="-342900" algn="just">
              <a:buFont typeface="Arial" panose="020B0604020202020204" pitchFamily="34" charset="0"/>
              <a:buChar char="•"/>
            </a:pPr>
            <a:r>
              <a:rPr lang="en-US" sz="4000" dirty="0">
                <a:latin typeface="+mj-lt"/>
              </a:rPr>
              <a:t>CONCLUSION</a:t>
            </a:r>
          </a:p>
        </p:txBody>
      </p:sp>
      <p:sp>
        <p:nvSpPr>
          <p:cNvPr id="75" name="Text Placeholder 74">
            <a:extLst>
              <a:ext uri="{FF2B5EF4-FFF2-40B4-BE49-F238E27FC236}">
                <a16:creationId xmlns:a16="http://schemas.microsoft.com/office/drawing/2014/main" id="{28F3B42C-EFCD-49EC-9A1E-EC5F24987464}"/>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BFF88A70-F2B6-B00C-F00B-2585DEAF65FC}"/>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420974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DDF3EB6-4282-CE3A-ECF6-5A86062AF037}"/>
              </a:ext>
            </a:extLst>
          </p:cNvPr>
          <p:cNvSpPr>
            <a:spLocks noGrp="1"/>
          </p:cNvSpPr>
          <p:nvPr>
            <p:ph type="pic" sz="quarter" idx="15"/>
          </p:nvPr>
        </p:nvSpPr>
        <p:spPr/>
      </p:sp>
      <p:sp>
        <p:nvSpPr>
          <p:cNvPr id="3" name="Text Placeholder 2">
            <a:extLst>
              <a:ext uri="{FF2B5EF4-FFF2-40B4-BE49-F238E27FC236}">
                <a16:creationId xmlns:a16="http://schemas.microsoft.com/office/drawing/2014/main" id="{C557C69F-B38F-7878-B5AE-493CB88EEECE}"/>
              </a:ext>
            </a:extLst>
          </p:cNvPr>
          <p:cNvSpPr>
            <a:spLocks noGrp="1"/>
          </p:cNvSpPr>
          <p:nvPr>
            <p:ph type="body" sz="quarter" idx="12"/>
          </p:nvPr>
        </p:nvSpPr>
        <p:spPr/>
        <p:txBody>
          <a:bodyPr/>
          <a:lstStyle/>
          <a:p>
            <a:endParaRPr lang="en-IN"/>
          </a:p>
        </p:txBody>
      </p:sp>
      <p:sp>
        <p:nvSpPr>
          <p:cNvPr id="4" name="Title 3">
            <a:extLst>
              <a:ext uri="{FF2B5EF4-FFF2-40B4-BE49-F238E27FC236}">
                <a16:creationId xmlns:a16="http://schemas.microsoft.com/office/drawing/2014/main" id="{296D35C2-8BE3-2D7E-B4D6-9E209080325C}"/>
              </a:ext>
            </a:extLst>
          </p:cNvPr>
          <p:cNvSpPr>
            <a:spLocks noGrp="1"/>
          </p:cNvSpPr>
          <p:nvPr>
            <p:ph type="ctrTitle"/>
          </p:nvPr>
        </p:nvSpPr>
        <p:spPr/>
        <p:txBody>
          <a:bodyPr/>
          <a:lstStyle/>
          <a:p>
            <a:r>
              <a:rPr lang="en-US" dirty="0"/>
              <a:t>THANK YOU</a:t>
            </a:r>
            <a:endParaRPr lang="en-IN" dirty="0"/>
          </a:p>
        </p:txBody>
      </p:sp>
      <p:sp>
        <p:nvSpPr>
          <p:cNvPr id="5" name="Subtitle 4">
            <a:extLst>
              <a:ext uri="{FF2B5EF4-FFF2-40B4-BE49-F238E27FC236}">
                <a16:creationId xmlns:a16="http://schemas.microsoft.com/office/drawing/2014/main" id="{2190A7C7-534F-BEB6-9044-CF51230DD0B6}"/>
              </a:ext>
            </a:extLst>
          </p:cNvPr>
          <p:cNvSpPr>
            <a:spLocks noGrp="1"/>
          </p:cNvSpPr>
          <p:nvPr>
            <p:ph type="subTitle" idx="1"/>
          </p:nvPr>
        </p:nvSpPr>
        <p:spPr/>
        <p:txBody>
          <a:bodyPr/>
          <a:lstStyle/>
          <a:p>
            <a:endParaRPr lang="en-IN"/>
          </a:p>
        </p:txBody>
      </p:sp>
      <p:sp>
        <p:nvSpPr>
          <p:cNvPr id="6" name="Text Placeholder 5">
            <a:extLst>
              <a:ext uri="{FF2B5EF4-FFF2-40B4-BE49-F238E27FC236}">
                <a16:creationId xmlns:a16="http://schemas.microsoft.com/office/drawing/2014/main" id="{733D8041-D586-F6A8-5FCE-3B95BE7AA189}"/>
              </a:ext>
            </a:extLst>
          </p:cNvPr>
          <p:cNvSpPr>
            <a:spLocks noGrp="1"/>
          </p:cNvSpPr>
          <p:nvPr>
            <p:ph type="body" sz="quarter" idx="13"/>
          </p:nvPr>
        </p:nvSpPr>
        <p:spPr/>
        <p:txBody>
          <a:bodyPr>
            <a:normAutofit fontScale="55000" lnSpcReduction="20000"/>
          </a:bodyPr>
          <a:lstStyle/>
          <a:p>
            <a:endParaRPr lang="en-IN"/>
          </a:p>
        </p:txBody>
      </p:sp>
      <p:sp>
        <p:nvSpPr>
          <p:cNvPr id="7" name="Text Placeholder 6">
            <a:extLst>
              <a:ext uri="{FF2B5EF4-FFF2-40B4-BE49-F238E27FC236}">
                <a16:creationId xmlns:a16="http://schemas.microsoft.com/office/drawing/2014/main" id="{9E425570-9D8B-2D59-E006-480F401720D0}"/>
              </a:ext>
            </a:extLst>
          </p:cNvPr>
          <p:cNvSpPr>
            <a:spLocks noGrp="1"/>
          </p:cNvSpPr>
          <p:nvPr>
            <p:ph type="body" sz="quarter" idx="14"/>
          </p:nvPr>
        </p:nvSpPr>
        <p:spPr/>
        <p:txBody>
          <a:bodyPr>
            <a:normAutofit fontScale="55000" lnSpcReduction="20000"/>
          </a:bodyPr>
          <a:lstStyle/>
          <a:p>
            <a:endParaRPr lang="en-IN"/>
          </a:p>
        </p:txBody>
      </p:sp>
    </p:spTree>
    <p:extLst>
      <p:ext uri="{BB962C8B-B14F-4D97-AF65-F5344CB8AC3E}">
        <p14:creationId xmlns:p14="http://schemas.microsoft.com/office/powerpoint/2010/main" val="57570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576</TotalTime>
  <Words>974</Words>
  <Application>Microsoft Office PowerPoint</Application>
  <PresentationFormat>Widescreen</PresentationFormat>
  <Paragraphs>74</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 Narrow</vt:lpstr>
      <vt:lpstr>Arial</vt:lpstr>
      <vt:lpstr>Tw Cen MT</vt:lpstr>
      <vt:lpstr>Tw Cen MT Condensed</vt:lpstr>
      <vt:lpstr>Wingdings 3</vt:lpstr>
      <vt:lpstr>ModernClassicBlock-3</vt:lpstr>
      <vt:lpstr>DATA VISUALIZATION  </vt:lpstr>
      <vt:lpstr>Outlines</vt:lpstr>
      <vt:lpstr>PowerPoint Presentation</vt:lpstr>
      <vt:lpstr>DATASET INSIGHTs</vt:lpstr>
      <vt:lpstr>Tableau dashboard </vt:lpstr>
      <vt:lpstr>CHARTS</vt:lpstr>
      <vt:lpstr>SUMMARY</vt:lpstr>
      <vt:lpstr>POWER BI dashboard </vt:lpstr>
      <vt:lpstr>CHARTS</vt:lpstr>
      <vt:lpstr>SUMMARY</vt:lpstr>
      <vt:lpstr>EXCEL dashboard </vt:lpstr>
      <vt:lpstr>CHARTS</vt:lpstr>
      <vt:lpstr>SUMMARY</vt:lpstr>
      <vt:lpstr>In summary, this presentation has examined the essential role of effective data visualization in today’s data-centric landscape. We explored three powerful tools—Excel, Tableau, and Power BI—each offering distinct features and capabilities for building interactive dashboards. By comparing their strengths and applications, we highlighted how these tools can convert raw data into actionable insights, empowering organizations to make informed decisions and drive strategic growth.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shirin shahana</dc:creator>
  <cp:lastModifiedBy>shirin shahana</cp:lastModifiedBy>
  <cp:revision>1</cp:revision>
  <dcterms:created xsi:type="dcterms:W3CDTF">2026-04-17T11:05:15Z</dcterms:created>
  <dcterms:modified xsi:type="dcterms:W3CDTF">2026-04-17T20:42:03Z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